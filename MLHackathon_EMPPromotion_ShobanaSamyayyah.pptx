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9"/>
  </p:notesMasterIdLst>
  <p:handoutMasterIdLst>
    <p:handoutMasterId r:id="rId20"/>
  </p:handoutMasterIdLst>
  <p:sldIdLst>
    <p:sldId id="312" r:id="rId5"/>
    <p:sldId id="304" r:id="rId6"/>
    <p:sldId id="282" r:id="rId7"/>
    <p:sldId id="323" r:id="rId8"/>
    <p:sldId id="328" r:id="rId9"/>
    <p:sldId id="326" r:id="rId10"/>
    <p:sldId id="324" r:id="rId11"/>
    <p:sldId id="315" r:id="rId12"/>
    <p:sldId id="327" r:id="rId13"/>
    <p:sldId id="317" r:id="rId14"/>
    <p:sldId id="318" r:id="rId15"/>
    <p:sldId id="330" r:id="rId16"/>
    <p:sldId id="331" r:id="rId17"/>
    <p:sldId id="297" r:id="rId18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5388" autoAdjust="0"/>
  </p:normalViewPr>
  <p:slideViewPr>
    <p:cSldViewPr snapToGrid="0" snapToObjects="1">
      <p:cViewPr varScale="1">
        <p:scale>
          <a:sx n="73" d="100"/>
          <a:sy n="73" d="100"/>
        </p:scale>
        <p:origin x="364" y="4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797F6-560A-BECF-1FF4-2B54782E2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797F3-22B3-41BD-A313-202A13D19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6819B7-FC84-D248-5D80-A12ACE963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960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D195C-96D5-799D-8F55-C5DB942D5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97B84-C29C-BF3A-34A3-2CC13F976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44B1B-447E-A399-CA76-7783C64A3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68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F32DB-6E64-B196-4CCB-EED1FEA73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AC9C3-6CBE-C1E0-93A5-303C26FAEA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03F163-5A53-FF5D-24AE-13808BBF3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7670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3BB80-1FFC-4D44-EE6D-91CC00755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507C7-ECDE-6D9C-B396-E446A9E17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C52F3F-D44B-86FD-5F8A-BC5CB8573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021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01A1F-0E8D-07E2-8579-656A2701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A11A04-2CEF-CF46-D81E-6CCFEB6922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0FE768-AA6F-A49D-B544-AF0E52449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740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F423C-0EFB-D88F-22F7-8E71EFE7E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EBCAC-B096-D1F7-C8E2-937A3C9C1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0CAB5-0031-9DCE-6873-D304F5631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988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B649-C33F-4E99-9ED5-CA58DEF89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B943C1-7C1D-516E-EC08-FA3EC8EA5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81C25A-C36C-C7EE-F9C2-4AFA1867F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7103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nsole.cloud.google.com/run/detail/europe-west1/promotionfastapi?project=project-4fbc3260-9165-45b9-bb7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onsole.cloud.google.com/run/detail/asia-south1/employeepromotion?project=project-4fbc3260-9165-45b9-bb7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MACHINE LANGUAGE</a:t>
            </a:r>
            <a:br>
              <a:rPr lang="en-US" dirty="0"/>
            </a:br>
            <a:r>
              <a:rPr lang="en-US" dirty="0"/>
              <a:t>Hackathon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Exploratory Data Analytics (EDA)</a:t>
            </a:r>
          </a:p>
          <a:p>
            <a:r>
              <a:rPr lang="en-US" dirty="0"/>
              <a:t>Feature Engineering</a:t>
            </a:r>
          </a:p>
          <a:p>
            <a:r>
              <a:rPr lang="en-US" dirty="0"/>
              <a:t>Model Building</a:t>
            </a:r>
          </a:p>
          <a:p>
            <a:r>
              <a:rPr lang="en-US" dirty="0"/>
              <a:t>Model Tuning</a:t>
            </a:r>
          </a:p>
          <a:p>
            <a:r>
              <a:rPr lang="en-US" dirty="0"/>
              <a:t>Model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Exploratory Data Analytics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Imbalanced Dataset</a:t>
            </a:r>
          </a:p>
          <a:p>
            <a:r>
              <a:rPr lang="en-US" dirty="0"/>
              <a:t>Outliers in age, length of service and no: of trainings. </a:t>
            </a:r>
          </a:p>
          <a:p>
            <a:r>
              <a:rPr lang="en-US" dirty="0"/>
              <a:t>Outliers in this dataset are valid as it belongs to employee’s age, service and trainings belongs to several department.</a:t>
            </a:r>
          </a:p>
          <a:p>
            <a:r>
              <a:rPr lang="en-US" dirty="0"/>
              <a:t>Numerical features doesn’t contribute much to target whereas all categorical features have strong relationship with target</a:t>
            </a:r>
          </a:p>
          <a:p>
            <a:r>
              <a:rPr lang="en-US" dirty="0"/>
              <a:t>Length of service and age features have correlation</a:t>
            </a:r>
          </a:p>
          <a:p>
            <a:r>
              <a:rPr lang="en-US" dirty="0"/>
              <a:t>Previous Year Rating and Education has null values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F5AB1-4930-5E8A-DF13-0A3B49699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32243-CC0E-34F1-11A1-63515A906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EDA OBSERVATION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3EF4B64-2CD0-1AF3-5871-EBF6988B5E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6D4D8E-B8EE-1488-5BDA-78321857F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802" y="2051438"/>
            <a:ext cx="7132615" cy="480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291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F1D18-B504-D552-8E1D-1634C8349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34250-E1FC-69E7-BDB5-6389BED82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EDA OBSERVATION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8C27202-6AFE-CF7F-E8E1-55B741B418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34A7301-E718-BEF8-6342-15510F38DC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239590" y="2180024"/>
            <a:ext cx="7039308" cy="434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39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B6039-E7D7-BA62-CA4D-044EF5FA3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D51E-40B1-3CDF-264E-2C69C6985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EDA OBSERVATION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D95D58-D3C2-8A91-C66F-3E6E275567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-1" r="42510" b="-5904"/>
          <a:stretch>
            <a:fillRect/>
          </a:stretch>
        </p:blipFill>
        <p:spPr>
          <a:xfrm>
            <a:off x="3460564" y="2534194"/>
            <a:ext cx="7085515" cy="3632024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5A92BAE-9333-C059-9E23-CCEF77C2B2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065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64618-BE8A-E69A-9512-097A61693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3E4B0-1233-2CF8-1FF8-8B054AB18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757646"/>
            <a:ext cx="7965461" cy="1293792"/>
          </a:xfrm>
        </p:spPr>
        <p:txBody>
          <a:bodyPr/>
          <a:lstStyle/>
          <a:p>
            <a:r>
              <a:rPr lang="en-US" dirty="0"/>
              <a:t>Model Building - Approaches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432B2-BB69-699F-2ACC-8B594BA87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Imbalanced Dataset – Used hyper parameters</a:t>
            </a:r>
          </a:p>
          <a:p>
            <a:r>
              <a:rPr lang="en-US" dirty="0"/>
              <a:t>Threshold Tuning</a:t>
            </a:r>
          </a:p>
          <a:p>
            <a:r>
              <a:rPr lang="en-US" dirty="0"/>
              <a:t>Oversampling and </a:t>
            </a:r>
            <a:r>
              <a:rPr lang="en-US" dirty="0" err="1"/>
              <a:t>Undersampling</a:t>
            </a:r>
            <a:r>
              <a:rPr lang="en-US" dirty="0"/>
              <a:t> before Scaling</a:t>
            </a:r>
          </a:p>
          <a:p>
            <a:r>
              <a:rPr lang="en-US" dirty="0" err="1"/>
              <a:t>LogisticRegression</a:t>
            </a:r>
            <a:r>
              <a:rPr lang="en-US" dirty="0"/>
              <a:t> with Regularization techniques</a:t>
            </a:r>
          </a:p>
          <a:p>
            <a:r>
              <a:rPr lang="en-US" dirty="0"/>
              <a:t>Not tried Decision Tree as </a:t>
            </a:r>
            <a:r>
              <a:rPr lang="en-US" dirty="0" err="1"/>
              <a:t>RandomForestClassifier</a:t>
            </a:r>
            <a:r>
              <a:rPr lang="en-US" dirty="0"/>
              <a:t> enhanced approach is used</a:t>
            </a:r>
          </a:p>
          <a:p>
            <a:r>
              <a:rPr lang="en-US" dirty="0"/>
              <a:t>Bagging algorithm – </a:t>
            </a:r>
            <a:r>
              <a:rPr lang="en-US" dirty="0" err="1"/>
              <a:t>RandomForestClassifier</a:t>
            </a:r>
            <a:endParaRPr lang="en-US" dirty="0"/>
          </a:p>
          <a:p>
            <a:r>
              <a:rPr lang="en-US" dirty="0"/>
              <a:t>Boosting algorithm - </a:t>
            </a:r>
            <a:r>
              <a:rPr lang="en-US" dirty="0" err="1"/>
              <a:t>XGBoostClassifier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F861372-9C70-8C97-164A-5C6C82E572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147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60" y="383587"/>
            <a:ext cx="7667126" cy="545101"/>
          </a:xfrm>
        </p:spPr>
        <p:txBody>
          <a:bodyPr/>
          <a:lstStyle/>
          <a:p>
            <a:r>
              <a:rPr lang="en-US" dirty="0"/>
              <a:t>Model TUNING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BC781DE-DE02-71B6-2230-180897E8A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185392"/>
              </p:ext>
            </p:extLst>
          </p:nvPr>
        </p:nvGraphicFramePr>
        <p:xfrm>
          <a:off x="273551" y="1233495"/>
          <a:ext cx="6301419" cy="5315350"/>
        </p:xfrm>
        <a:graphic>
          <a:graphicData uri="http://schemas.openxmlformats.org/drawingml/2006/table">
            <a:tbl>
              <a:tblPr firstRow="1" firstCol="1" bandRow="1"/>
              <a:tblGrid>
                <a:gridCol w="846825">
                  <a:extLst>
                    <a:ext uri="{9D8B030D-6E8A-4147-A177-3AD203B41FA5}">
                      <a16:colId xmlns:a16="http://schemas.microsoft.com/office/drawing/2014/main" val="2456751985"/>
                    </a:ext>
                  </a:extLst>
                </a:gridCol>
                <a:gridCol w="2684342">
                  <a:extLst>
                    <a:ext uri="{9D8B030D-6E8A-4147-A177-3AD203B41FA5}">
                      <a16:colId xmlns:a16="http://schemas.microsoft.com/office/drawing/2014/main" val="1160972744"/>
                    </a:ext>
                  </a:extLst>
                </a:gridCol>
                <a:gridCol w="675687">
                  <a:extLst>
                    <a:ext uri="{9D8B030D-6E8A-4147-A177-3AD203B41FA5}">
                      <a16:colId xmlns:a16="http://schemas.microsoft.com/office/drawing/2014/main" val="1989027086"/>
                    </a:ext>
                  </a:extLst>
                </a:gridCol>
                <a:gridCol w="1182965">
                  <a:extLst>
                    <a:ext uri="{9D8B030D-6E8A-4147-A177-3AD203B41FA5}">
                      <a16:colId xmlns:a16="http://schemas.microsoft.com/office/drawing/2014/main" val="868326063"/>
                    </a:ext>
                  </a:extLst>
                </a:gridCol>
                <a:gridCol w="911600">
                  <a:extLst>
                    <a:ext uri="{9D8B030D-6E8A-4147-A177-3AD203B41FA5}">
                      <a16:colId xmlns:a16="http://schemas.microsoft.com/office/drawing/2014/main" val="3990512222"/>
                    </a:ext>
                  </a:extLst>
                </a:gridCol>
              </a:tblGrid>
              <a:tr h="35468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Threshold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Train/Test Score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Submission Score</a:t>
                      </a:r>
                      <a:endParaRPr lang="en-IN" sz="9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013079"/>
                  </a:ext>
                </a:extLst>
              </a:tr>
              <a:tr h="11828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LR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LogisticRegression(C=0.5, class_weight='balanced', penalty=None,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   random_state=42)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 score : 0.3754699537750385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Test score : 0.3794642857142857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0.34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277899"/>
                  </a:ext>
                </a:extLst>
              </a:tr>
              <a:tr h="94869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LR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LogisticRegression(C=0.5, class_weight='balanced', penalty=None,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   random_state=42)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0.38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839302"/>
                  </a:ext>
                </a:extLst>
              </a:tr>
              <a:tr h="112633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LR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LogisticRegression(C=3, class_weight='balanced', penalty='l1', random_state=42,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   solver='saga')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0.38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993328"/>
                  </a:ext>
                </a:extLst>
              </a:tr>
              <a:tr h="11828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RF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RandomForestClassifier(class_weight='balanced', max_features=None)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 score : 0.9982733430734493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Test score : 0.46889226100151743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0.47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130810"/>
                  </a:ext>
                </a:extLst>
              </a:tr>
              <a:tr h="1733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RF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Same as above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0.47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258919"/>
                  </a:ext>
                </a:extLst>
              </a:tr>
              <a:tr h="1733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RF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Same as above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0.47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260299"/>
                  </a:ext>
                </a:extLst>
              </a:tr>
              <a:tr h="1733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RF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default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9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0.38</a:t>
                      </a:r>
                    </a:p>
                  </a:txBody>
                  <a:tcPr marL="57275" marR="572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916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B9548-0E1E-F91A-CD91-9F4DC42FA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67C4E-FA28-4465-DB31-86BD14BCD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60" y="383587"/>
            <a:ext cx="7667126" cy="545101"/>
          </a:xfrm>
        </p:spPr>
        <p:txBody>
          <a:bodyPr/>
          <a:lstStyle/>
          <a:p>
            <a:r>
              <a:rPr lang="en-US" dirty="0"/>
              <a:t>Model TUNING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002E82-848E-681B-5CCF-0728CD2CAD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4A491F-AD3F-2510-4A0D-524FBEBE6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585997"/>
              </p:ext>
            </p:extLst>
          </p:nvPr>
        </p:nvGraphicFramePr>
        <p:xfrm>
          <a:off x="728912" y="1111675"/>
          <a:ext cx="6211820" cy="5959585"/>
        </p:xfrm>
        <a:graphic>
          <a:graphicData uri="http://schemas.openxmlformats.org/drawingml/2006/table">
            <a:tbl>
              <a:tblPr firstRow="1" firstCol="1" bandRow="1"/>
              <a:tblGrid>
                <a:gridCol w="834785">
                  <a:extLst>
                    <a:ext uri="{9D8B030D-6E8A-4147-A177-3AD203B41FA5}">
                      <a16:colId xmlns:a16="http://schemas.microsoft.com/office/drawing/2014/main" val="16943676"/>
                    </a:ext>
                  </a:extLst>
                </a:gridCol>
                <a:gridCol w="2646173">
                  <a:extLst>
                    <a:ext uri="{9D8B030D-6E8A-4147-A177-3AD203B41FA5}">
                      <a16:colId xmlns:a16="http://schemas.microsoft.com/office/drawing/2014/main" val="4173913605"/>
                    </a:ext>
                  </a:extLst>
                </a:gridCol>
                <a:gridCol w="666080">
                  <a:extLst>
                    <a:ext uri="{9D8B030D-6E8A-4147-A177-3AD203B41FA5}">
                      <a16:colId xmlns:a16="http://schemas.microsoft.com/office/drawing/2014/main" val="34883514"/>
                    </a:ext>
                  </a:extLst>
                </a:gridCol>
                <a:gridCol w="1166146">
                  <a:extLst>
                    <a:ext uri="{9D8B030D-6E8A-4147-A177-3AD203B41FA5}">
                      <a16:colId xmlns:a16="http://schemas.microsoft.com/office/drawing/2014/main" val="3873560257"/>
                    </a:ext>
                  </a:extLst>
                </a:gridCol>
                <a:gridCol w="898636">
                  <a:extLst>
                    <a:ext uri="{9D8B030D-6E8A-4147-A177-3AD203B41FA5}">
                      <a16:colId xmlns:a16="http://schemas.microsoft.com/office/drawing/2014/main" val="1167773011"/>
                    </a:ext>
                  </a:extLst>
                </a:gridCol>
              </a:tblGrid>
              <a:tr h="23825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Algorithm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Threshold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Train/Test Score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b="1" kern="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Submission Score</a:t>
                      </a:r>
                      <a:endParaRPr lang="en-IN" sz="7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347010"/>
                  </a:ext>
                </a:extLst>
              </a:tr>
              <a:tr h="40920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XGB</a:t>
                      </a:r>
                      <a:endParaRPr lang="en-IN" sz="7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7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</a:t>
                      </a:r>
                      <a:endParaRPr lang="en-IN" sz="7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IN" sz="7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0.48</a:t>
                      </a:r>
                      <a:endParaRPr lang="en-IN" sz="7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241430"/>
                  </a:ext>
                </a:extLst>
              </a:tr>
              <a:tr h="447557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XGB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XGBClassifier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base_score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booster=None, callbacks=None,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colsample_bylevel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colsample_bynode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colsample_bytree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=0.9, device=None,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early_stopping_rounds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enable_categorical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=False,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eval_metric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feature_types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feature_weights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gamma=None,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grow_policy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importance_type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interaction_constraints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learning_rate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=0.1,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max_bin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max_cat_threshold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max_cat_to_onehot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max_delta_step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max_depth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=5,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max_leaves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min_child_weight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missing=nan,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monotone_constraints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multi_strategy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n_estimators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n_jobs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</a:t>
                      </a:r>
                      <a:r>
                        <a:rPr lang="en-IN" sz="700" kern="1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num_parallel_tree</a:t>
                      </a: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=None, ...)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Train score : 0.41104972375690607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Test score : 0.38784713980536434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0.34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318897"/>
                  </a:ext>
                </a:extLst>
              </a:tr>
              <a:tr h="11645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XGB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Same as above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0.43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6557219"/>
                  </a:ext>
                </a:extLst>
              </a:tr>
              <a:tr h="3600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XGB with oversampling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Same as above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0.35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0.34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321862"/>
                  </a:ext>
                </a:extLst>
              </a:tr>
              <a:tr h="36005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XGB with oversampling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Same as above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0.55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700" kern="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0.40</a:t>
                      </a:r>
                    </a:p>
                  </a:txBody>
                  <a:tcPr marL="40565" marR="4056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5953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5951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Submission SCORE TREND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1785C7-A8D6-0762-BA55-259FDFDC8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909" y="2308012"/>
            <a:ext cx="6369051" cy="425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XGB Parameter TUNING – Max Score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17DB3F-8631-BFFA-FA04-9E6ED5DF8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025" y="2619071"/>
            <a:ext cx="5543835" cy="121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5E935-4C2E-C551-2365-CC34FA02F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2DFB-D3F8-7E0F-D7D5-5BE1ABDA7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Cloud Services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AE9C510-79F9-5779-294A-DF53104774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4B04C5B-8145-26F4-F905-679222865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480256"/>
              </p:ext>
            </p:extLst>
          </p:nvPr>
        </p:nvGraphicFramePr>
        <p:xfrm>
          <a:off x="2947714" y="2505823"/>
          <a:ext cx="7965461" cy="2093121"/>
        </p:xfrm>
        <a:graphic>
          <a:graphicData uri="http://schemas.openxmlformats.org/drawingml/2006/table">
            <a:tbl>
              <a:tblPr/>
              <a:tblGrid>
                <a:gridCol w="2193613">
                  <a:extLst>
                    <a:ext uri="{9D8B030D-6E8A-4147-A177-3AD203B41FA5}">
                      <a16:colId xmlns:a16="http://schemas.microsoft.com/office/drawing/2014/main" val="1977522505"/>
                    </a:ext>
                  </a:extLst>
                </a:gridCol>
                <a:gridCol w="5771848">
                  <a:extLst>
                    <a:ext uri="{9D8B030D-6E8A-4147-A177-3AD203B41FA5}">
                      <a16:colId xmlns:a16="http://schemas.microsoft.com/office/drawing/2014/main" val="3818518431"/>
                    </a:ext>
                  </a:extLst>
                </a:gridCol>
              </a:tblGrid>
              <a:tr h="3372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Cloud Service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Service URLS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659409"/>
                  </a:ext>
                </a:extLst>
              </a:tr>
              <a:tr h="8256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Fast API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hlinkClick r:id="rId3"/>
                        </a:rPr>
                        <a:t>https://console.cloud.google.com/run/detail/europe-west1/promotionfastapi?project=project-4fbc3260-9165-45b9-bb7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ctr">
                        <a:buNone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088187"/>
                  </a:ext>
                </a:extLst>
              </a:tr>
              <a:tr h="9302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Web UI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hlinkClick r:id="rId4"/>
                        </a:rPr>
                        <a:t>https://console.cloud.google.com/run/detail/asia-south1/employeepromotion?project=project-4fbc3260-9165-45b9-bb7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ctr">
                        <a:buNone/>
                      </a:pP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657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863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73E6D-30AD-210C-A830-7F84ECCA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CBE82-CB72-F980-8702-8DC7D2DFC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Repository LINKS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01833D1-7B98-6220-EE92-78BB11E8D9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9D75B84-2E6F-55D5-9C3D-66B210F770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415911"/>
              </p:ext>
            </p:extLst>
          </p:nvPr>
        </p:nvGraphicFramePr>
        <p:xfrm>
          <a:off x="2947714" y="2505823"/>
          <a:ext cx="7965461" cy="3023397"/>
        </p:xfrm>
        <a:graphic>
          <a:graphicData uri="http://schemas.openxmlformats.org/drawingml/2006/table">
            <a:tbl>
              <a:tblPr/>
              <a:tblGrid>
                <a:gridCol w="2193613">
                  <a:extLst>
                    <a:ext uri="{9D8B030D-6E8A-4147-A177-3AD203B41FA5}">
                      <a16:colId xmlns:a16="http://schemas.microsoft.com/office/drawing/2014/main" val="1977522505"/>
                    </a:ext>
                  </a:extLst>
                </a:gridCol>
                <a:gridCol w="5771848">
                  <a:extLst>
                    <a:ext uri="{9D8B030D-6E8A-4147-A177-3AD203B41FA5}">
                      <a16:colId xmlns:a16="http://schemas.microsoft.com/office/drawing/2014/main" val="3818518431"/>
                    </a:ext>
                  </a:extLst>
                </a:gridCol>
              </a:tblGrid>
              <a:tr h="3372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Repo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Service URLS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0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659409"/>
                  </a:ext>
                </a:extLst>
              </a:tr>
              <a:tr h="8256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</a:t>
                      </a: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ource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Code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https://github.com/ShobanaSamyayyah/MLHackathonEmpPromotion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088187"/>
                  </a:ext>
                </a:extLst>
              </a:tr>
              <a:tr h="9302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Fast API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https://github.com/ShobanaSamyayyah/PromotionFastAPI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657509"/>
                  </a:ext>
                </a:extLst>
              </a:tr>
              <a:tr h="9302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Web UI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https://github.com/ShobanaSamyayyah/EmployeePromotion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27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3453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Shobana </a:t>
            </a:r>
            <a:r>
              <a:rPr lang="en-US" dirty="0" err="1"/>
              <a:t>Samyayyah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{6C086E5E-73B9-45A9-BA83-186375A64366}tf78438558_win32</Template>
  <TotalTime>125</TotalTime>
  <Words>654</Words>
  <Application>Microsoft Office PowerPoint</Application>
  <PresentationFormat>Widescreen</PresentationFormat>
  <Paragraphs>148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Sabon Next LT</vt:lpstr>
      <vt:lpstr>Custom</vt:lpstr>
      <vt:lpstr>MACHINE LANGUAGE Hackathon</vt:lpstr>
      <vt:lpstr>agenda</vt:lpstr>
      <vt:lpstr>Exploratory Data Analytics (EDA)</vt:lpstr>
      <vt:lpstr>EDA OBSERVATION</vt:lpstr>
      <vt:lpstr>EDA OBSERVATION</vt:lpstr>
      <vt:lpstr>EDA OBSERVATION</vt:lpstr>
      <vt:lpstr>Model Building - Approaches</vt:lpstr>
      <vt:lpstr>Model TUNING</vt:lpstr>
      <vt:lpstr>Model TUNING</vt:lpstr>
      <vt:lpstr>Submission SCORE TREND</vt:lpstr>
      <vt:lpstr>XGB Parameter TUNING – Max Score</vt:lpstr>
      <vt:lpstr>Cloud Services</vt:lpstr>
      <vt:lpstr>Repository LINKS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Elayaraja Narayanasamy</dc:creator>
  <cp:lastModifiedBy>Elayaraja Narayanasamy</cp:lastModifiedBy>
  <cp:revision>33</cp:revision>
  <dcterms:created xsi:type="dcterms:W3CDTF">2026-01-04T09:48:07Z</dcterms:created>
  <dcterms:modified xsi:type="dcterms:W3CDTF">2026-01-04T11:53:10Z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